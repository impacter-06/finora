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73" r:id="rId2"/>
    <p:sldId id="274" r:id="rId3"/>
    <p:sldId id="275" r:id="rId4"/>
    <p:sldId id="285" r:id="rId5"/>
    <p:sldId id="279" r:id="rId6"/>
    <p:sldId id="278" r:id="rId7"/>
    <p:sldId id="287" r:id="rId8"/>
    <p:sldId id="267" r:id="rId9"/>
    <p:sldId id="259" r:id="rId10"/>
    <p:sldId id="266" r:id="rId11"/>
    <p:sldId id="261" r:id="rId12"/>
    <p:sldId id="288" r:id="rId13"/>
    <p:sldId id="289" r:id="rId14"/>
    <p:sldId id="290" r:id="rId15"/>
    <p:sldId id="293" r:id="rId16"/>
    <p:sldId id="291" r:id="rId17"/>
    <p:sldId id="269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CC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485" autoAdjust="0"/>
    <p:restoredTop sz="94660"/>
  </p:normalViewPr>
  <p:slideViewPr>
    <p:cSldViewPr>
      <p:cViewPr>
        <p:scale>
          <a:sx n="66" d="100"/>
          <a:sy n="66" d="100"/>
        </p:scale>
        <p:origin x="-1548" y="-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0535A-5A6E-4DC0-96AE-400B9F228958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F81C88C2-8500-43C2-A84B-FFE5D4129AE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0535A-5A6E-4DC0-96AE-400B9F228958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C88C2-8500-43C2-A84B-FFE5D4129AE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0535A-5A6E-4DC0-96AE-400B9F228958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1C88C2-8500-43C2-A84B-FFE5D4129A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0535A-5A6E-4DC0-96AE-400B9F228958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C88C2-8500-43C2-A84B-FFE5D4129AE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0535A-5A6E-4DC0-96AE-400B9F228958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C88C2-8500-43C2-A84B-FFE5D4129AE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0535A-5A6E-4DC0-96AE-400B9F228958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C88C2-8500-43C2-A84B-FFE5D4129A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0535A-5A6E-4DC0-96AE-400B9F228958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C88C2-8500-43C2-A84B-FFE5D4129A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0535A-5A6E-4DC0-96AE-400B9F228958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C88C2-8500-43C2-A84B-FFE5D4129AE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0535A-5A6E-4DC0-96AE-400B9F228958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1C88C2-8500-43C2-A84B-FFE5D4129AE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0535A-5A6E-4DC0-96AE-400B9F228958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C88C2-8500-43C2-A84B-FFE5D4129A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0535A-5A6E-4DC0-96AE-400B9F228958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C88C2-8500-43C2-A84B-FFE5D4129AE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7B0535A-5A6E-4DC0-96AE-400B9F228958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F81C88C2-8500-43C2-A84B-FFE5D4129AE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525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304800" y="0"/>
            <a:ext cx="94488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19200" y="3657600"/>
            <a:ext cx="2717694" cy="283637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58000"/>
            <a:chOff x="228600" y="914400"/>
            <a:chExt cx="8462158" cy="4791075"/>
          </a:xfrm>
        </p:grpSpPr>
        <p:pic>
          <p:nvPicPr>
            <p:cNvPr id="4099" name="Picture 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28600" y="914400"/>
              <a:ext cx="8462158" cy="479107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4100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2000" y="3810000"/>
              <a:ext cx="1524000" cy="1566449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228600" y="152400"/>
            <a:ext cx="96012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04800" y="0"/>
            <a:ext cx="94488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372600" cy="71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533400" y="228600"/>
            <a:ext cx="7776882" cy="6438900"/>
            <a:chOff x="0" y="0"/>
            <a:chExt cx="7696200" cy="6477000"/>
          </a:xfrm>
        </p:grpSpPr>
        <p:pic>
          <p:nvPicPr>
            <p:cNvPr id="16" name="Picture 15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0"/>
              <a:ext cx="7696200" cy="6477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7" name="Round Diagonal Corner Rectangle 16"/>
            <p:cNvSpPr/>
            <p:nvPr/>
          </p:nvSpPr>
          <p:spPr>
            <a:xfrm>
              <a:off x="2438400" y="247650"/>
              <a:ext cx="2686050" cy="590550"/>
            </a:xfrm>
            <a:prstGeom prst="round2Diag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800" b="1">
                  <a:latin typeface="Arial Rounded MT Bold" pitchFamily="34" charset="0"/>
                </a:rPr>
                <a:t>FINORA</a:t>
              </a:r>
              <a:endParaRPr lang="en-US" sz="1100" b="1">
                <a:latin typeface="Arial Rounded MT Bold" pitchFamily="34" charset="0"/>
              </a:endParaRPr>
            </a:p>
          </p:txBody>
        </p:sp>
      </p:grpSp>
      <p:sp>
        <p:nvSpPr>
          <p:cNvPr id="22529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04800" y="0"/>
            <a:ext cx="9753600" cy="731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3048000" cy="533400"/>
          </a:xfrm>
        </p:spPr>
        <p:txBody>
          <a:bodyPr>
            <a:normAutofit/>
          </a:bodyPr>
          <a:lstStyle/>
          <a:p>
            <a:r>
              <a:rPr lang="en-US" sz="2400" cap="all" dirty="0" smtClean="0">
                <a:latin typeface="Arial Rounded MT Bold" pitchFamily="34" charset="0"/>
              </a:rPr>
              <a:t>Tech stack</a:t>
            </a:r>
            <a:endParaRPr lang="en-US" sz="2400" cap="all" dirty="0">
              <a:latin typeface="Arial Rounded MT Bold" pitchFamily="34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77200" y="152400"/>
            <a:ext cx="730117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" name="Content Placeholder 9"/>
          <p:cNvGraphicFramePr>
            <a:graphicFrameLocks noGrp="1"/>
          </p:cNvGraphicFramePr>
          <p:nvPr>
            <p:ph sz="quarter" idx="1"/>
          </p:nvPr>
        </p:nvGraphicFramePr>
        <p:xfrm>
          <a:off x="609600" y="990600"/>
          <a:ext cx="8077200" cy="5486402"/>
        </p:xfrm>
        <a:graphic>
          <a:graphicData uri="http://schemas.openxmlformats.org/drawingml/2006/table">
            <a:tbl>
              <a:tblPr/>
              <a:tblGrid>
                <a:gridCol w="1932193"/>
                <a:gridCol w="1805492"/>
                <a:gridCol w="2043056"/>
                <a:gridCol w="2296459"/>
              </a:tblGrid>
              <a:tr h="349898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FRONTEND - Cross platform UI layer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A1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59837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React Native</a:t>
                      </a:r>
                    </a:p>
                    <a:p>
                      <a:pPr algn="l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iOS + Android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Next.js</a:t>
                      </a:r>
                    </a:p>
                    <a:p>
                      <a:pPr algn="l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Web App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Tailwind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CSS </a:t>
                      </a:r>
                      <a:endParaRPr lang="en-US" sz="1600" b="0" i="0" u="none" strike="noStrike" dirty="0" smtClean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l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(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UI styling)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i18n/i10n</a:t>
                      </a:r>
                    </a:p>
                    <a:p>
                      <a:pPr algn="l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Hindi,Telugu etc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9898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BACKEND API Layer - Business logic, auth, routing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59837">
                <a:tc>
                  <a:txBody>
                    <a:bodyPr/>
                    <a:lstStyle/>
                    <a:p>
                      <a:pPr marL="0" algn="l" rtl="0" eaLnBrk="1" fontAlgn="b" latinLnBrk="0" hangingPunct="1"/>
                      <a:r>
                        <a:rPr kumimoji="0" lang="en-US" sz="1600" b="0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 Node.js</a:t>
                      </a:r>
                      <a:endParaRPr kumimoji="0" lang="en-US" sz="1600" b="0" i="0" u="none" strike="noStrike" kern="1200" dirty="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" latinLnBrk="0" hangingPunct="1"/>
                      <a:r>
                        <a:rPr kumimoji="0" lang="en-US" sz="1600" b="0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 REST </a:t>
                      </a:r>
                      <a:r>
                        <a:rPr kumimoji="0" lang="en-US" sz="1600" b="0" i="0" u="none" strike="noStrike" kern="1200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en-US" sz="1600" b="0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GraphQL     (</a:t>
                      </a:r>
                      <a:r>
                        <a:rPr kumimoji="0" lang="en-US" sz="1600" b="0" i="0" u="none" strike="noStrike" kern="1200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API Contracts)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" latinLnBrk="0" hangingPunct="1"/>
                      <a:r>
                        <a:rPr kumimoji="0" lang="en-US" sz="1600" b="0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 JWT/Oauth2              </a:t>
                      </a:r>
                      <a:r>
                        <a:rPr kumimoji="0" lang="en-US" sz="1600" b="1" i="0" u="none" strike="noStrike" kern="1200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Auth for DIGILOCKER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" latinLnBrk="0" hangingPunct="1"/>
                      <a:r>
                        <a:rPr kumimoji="0" lang="en-US" sz="1600" b="0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 Redis</a:t>
                      </a:r>
                    </a:p>
                    <a:p>
                      <a:pPr marL="0" algn="l" rtl="0" eaLnBrk="1" fontAlgn="b" latinLnBrk="0" hangingPunct="1"/>
                      <a:r>
                        <a:rPr kumimoji="0" lang="en-US" sz="1600" b="0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en-US" sz="1600" b="0" i="0" u="none" strike="noStrike" kern="1200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Catching Sessions)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9898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AI/ML LAYER - Literacy Chatbot, Budget planner, personalization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0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59837">
                <a:tc>
                  <a:txBody>
                    <a:bodyPr/>
                    <a:lstStyle/>
                    <a:p>
                      <a:pPr marL="0" algn="l" rtl="0" eaLnBrk="1" fontAlgn="b" latinLnBrk="0" hangingPunct="1"/>
                      <a:r>
                        <a:rPr kumimoji="0" lang="en-US" sz="1600" b="1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 LLM </a:t>
                      </a:r>
                      <a:r>
                        <a:rPr kumimoji="0" lang="en-US" sz="1600" b="1" i="0" u="none" strike="noStrike" kern="1200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API GPT 4/Claude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" latinLnBrk="0" hangingPunct="1"/>
                      <a:r>
                        <a:rPr kumimoji="0" lang="en-US" sz="1600" b="0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 Gamification </a:t>
                      </a:r>
                      <a:br>
                        <a:rPr kumimoji="0" lang="en-US" sz="1600" b="0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</a:br>
                      <a:r>
                        <a:rPr kumimoji="0" lang="en-US" sz="1600" b="0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 Quizzes, </a:t>
                      </a:r>
                      <a:r>
                        <a:rPr kumimoji="0" lang="en-US" sz="1600" b="0" i="0" u="none" strike="noStrike" kern="1200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badges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" latinLnBrk="0" hangingPunct="1"/>
                      <a:r>
                        <a:rPr kumimoji="0" lang="en-US" sz="1600" b="0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 Budget </a:t>
                      </a:r>
                      <a:r>
                        <a:rPr kumimoji="0" lang="en-US" sz="1600" b="0" i="0" u="none" strike="noStrike" kern="1200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Engine </a:t>
                      </a:r>
                      <a:br>
                        <a:rPr kumimoji="0" lang="en-US" sz="1600" b="0" i="0" u="none" strike="noStrike" kern="1200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</a:br>
                      <a:r>
                        <a:rPr kumimoji="0" lang="en-US" sz="1600" b="0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1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50/30/20 </a:t>
                      </a:r>
                      <a:r>
                        <a:rPr kumimoji="0" lang="en-US" sz="1600" b="1" i="0" u="none" strike="noStrike" kern="1200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Rules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" latinLnBrk="0" hangingPunct="1"/>
                      <a:r>
                        <a:rPr kumimoji="0" lang="en-US" sz="1600" b="0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 Python </a:t>
                      </a:r>
                      <a:r>
                        <a:rPr kumimoji="0" lang="en-US" sz="1600" b="0" i="0" u="none" strike="noStrike" kern="1200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ML</a:t>
                      </a:r>
                      <a:br>
                        <a:rPr kumimoji="0" lang="en-US" sz="1600" b="0" i="0" u="none" strike="noStrike" kern="1200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</a:br>
                      <a:r>
                        <a:rPr kumimoji="0" lang="en-US" sz="1600" b="0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1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Recommendations</a:t>
                      </a:r>
                      <a:endParaRPr kumimoji="0" lang="en-US" sz="1600" b="1" i="0" u="none" strike="noStrike" kern="1200" dirty="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9898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DATA 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LAYER - Storage, Market Data, Analytics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59837">
                <a:tc>
                  <a:txBody>
                    <a:bodyPr/>
                    <a:lstStyle/>
                    <a:p>
                      <a:pPr marL="0" algn="l" rtl="0" eaLnBrk="1" fontAlgn="b" latinLnBrk="0" hangingPunct="1"/>
                      <a:r>
                        <a:rPr kumimoji="0" lang="en-US" sz="1600" b="0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 PostgreSQL</a:t>
                      </a:r>
                      <a:br>
                        <a:rPr kumimoji="0" lang="en-US" sz="1600" b="0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</a:br>
                      <a:r>
                        <a:rPr kumimoji="0" lang="en-US" sz="1600" b="0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0" i="0" u="none" strike="noStrike" kern="1200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User data/budgets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" latinLnBrk="0" hangingPunct="1"/>
                      <a:r>
                        <a:rPr kumimoji="0" lang="en-US" sz="1600" b="0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1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MongoDB</a:t>
                      </a:r>
                    </a:p>
                    <a:p>
                      <a:pPr marL="0" algn="l" rtl="0" eaLnBrk="1" fontAlgn="b" latinLnBrk="0" hangingPunct="1"/>
                      <a:r>
                        <a:rPr kumimoji="0" lang="en-US" sz="1600" b="0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0" i="0" u="none" strike="noStrike" kern="1200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Lessons, contents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" latinLnBrk="0" hangingPunct="1"/>
                      <a:r>
                        <a:rPr kumimoji="0" lang="en-US" sz="1600" b="1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 NSE/BSE </a:t>
                      </a:r>
                      <a:r>
                        <a:rPr kumimoji="0" lang="en-US" sz="1600" b="1" i="0" u="none" strike="noStrike" kern="1200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API </a:t>
                      </a:r>
                      <a:r>
                        <a:rPr kumimoji="0" lang="en-US" sz="1600" b="0" i="0" u="none" strike="noStrike" kern="1200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/>
                      </a:r>
                      <a:br>
                        <a:rPr kumimoji="0" lang="en-US" sz="1600" b="0" i="0" u="none" strike="noStrike" kern="1200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</a:br>
                      <a:r>
                        <a:rPr kumimoji="0" lang="en-US" sz="1600" b="0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 live </a:t>
                      </a:r>
                      <a:r>
                        <a:rPr kumimoji="0" lang="en-US" sz="1600" b="0" i="0" u="none" strike="noStrike" kern="1200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data market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" latinLnBrk="0" hangingPunct="1"/>
                      <a:r>
                        <a:rPr kumimoji="0" lang="en-US" sz="1600" b="0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 Firebase</a:t>
                      </a:r>
                    </a:p>
                    <a:p>
                      <a:pPr marL="0" algn="l" rtl="0" eaLnBrk="1" fontAlgn="b" latinLnBrk="0" hangingPunct="1"/>
                      <a:r>
                        <a:rPr kumimoji="0" lang="en-US" sz="1600" b="0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0" i="0" u="none" strike="noStrike" kern="1200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Push notifications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9898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GEO SPECIFIC INTEGRATIONS - Payments, KYC, Investment, Fraud Reporting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59837">
                <a:tc>
                  <a:txBody>
                    <a:bodyPr/>
                    <a:lstStyle/>
                    <a:p>
                      <a:pPr marL="0" algn="l" rtl="0" eaLnBrk="1" fontAlgn="b" latinLnBrk="0" hangingPunct="1"/>
                      <a:r>
                        <a:rPr kumimoji="0" lang="en-US" sz="1600" b="1" i="0" u="none" strike="noStrike" kern="1200" baseline="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1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UPI/</a:t>
                      </a:r>
                      <a:r>
                        <a:rPr kumimoji="0" lang="en-US" sz="1600" b="1" i="0" u="none" strike="noStrike" kern="1200" dirty="0" err="1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RazorPay</a:t>
                      </a:r>
                      <a:r>
                        <a:rPr kumimoji="0" lang="en-US" sz="1600" b="1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                    Payments</a:t>
                      </a:r>
                      <a:endParaRPr kumimoji="0" lang="en-US" sz="1600" b="1" i="0" u="none" strike="noStrike" kern="1200" dirty="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" latinLnBrk="0" hangingPunct="1"/>
                      <a:r>
                        <a:rPr kumimoji="0" lang="en-US" sz="1600" b="1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 DIGILocker </a:t>
                      </a:r>
                      <a:r>
                        <a:rPr kumimoji="0" lang="en-US" sz="1600" b="1" i="0" u="none" strike="noStrike" kern="1200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KYC User Verification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" latinLnBrk="0" hangingPunct="1"/>
                      <a:r>
                        <a:rPr kumimoji="0" lang="en-US" sz="1600" b="0" i="0" u="none" strike="noStrike" kern="1200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Zerodha/</a:t>
                      </a:r>
                      <a:r>
                        <a:rPr kumimoji="0" lang="en-US" sz="1600" b="0" i="0" u="none" strike="noStrike" kern="1200" dirty="0" err="1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Groww</a:t>
                      </a:r>
                      <a:r>
                        <a:rPr kumimoji="0" lang="en-US" sz="1600" b="0" i="0" u="none" strike="noStrike" kern="1200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0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1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Investment </a:t>
                      </a:r>
                      <a:r>
                        <a:rPr kumimoji="0" lang="en-US" sz="1600" b="1" i="0" u="none" strike="noStrike" kern="1200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APIs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" latinLnBrk="0" hangingPunct="1"/>
                      <a:r>
                        <a:rPr kumimoji="0" lang="en-US" sz="1600" b="1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 Cybercrime.gov.in</a:t>
                      </a:r>
                      <a:br>
                        <a:rPr kumimoji="0" lang="en-US" sz="1600" b="1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</a:br>
                      <a:r>
                        <a:rPr kumimoji="0" lang="en-US" sz="1600" b="1" i="0" u="none" strike="noStrike" kern="1200" dirty="0" smtClean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600" b="1" i="0" u="none" strike="noStrike" kern="1200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Fraud Reporting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7727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INFRA : AWS/GCP . Docker + Kubernetes. CI/CD (GitHub Actions). Sentry (App perf monitoring)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49688" y="0"/>
            <a:ext cx="9193688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228600" y="0"/>
            <a:ext cx="9524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457199" y="0"/>
            <a:ext cx="970167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 dirty="0" smtClean="0">
                <a:latin typeface="Arial Rounded MT Bold" pitchFamily="34" charset="0"/>
              </a:rPr>
              <a:t>Conclusion:</a:t>
            </a:r>
            <a:endParaRPr lang="en-US" dirty="0">
              <a:latin typeface="Arial Rounded MT Bold" pitchFamily="34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19200"/>
            <a:ext cx="9144000" cy="5638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2514600"/>
            <a:ext cx="7772400" cy="1143000"/>
          </a:xfrm>
        </p:spPr>
        <p:txBody>
          <a:bodyPr/>
          <a:lstStyle/>
          <a:p>
            <a:r>
              <a:rPr lang="en-US" dirty="0" smtClean="0">
                <a:latin typeface="Arial Rounded MT Bold" pitchFamily="34" charset="0"/>
              </a:rPr>
              <a:t>THANK YOU!</a:t>
            </a:r>
            <a:endParaRPr lang="en-US" dirty="0">
              <a:latin typeface="Arial Rounded MT Bol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735</TotalTime>
  <Words>161</Words>
  <Application>Microsoft Office PowerPoint</Application>
  <PresentationFormat>On-screen Show (4:3)</PresentationFormat>
  <Paragraphs>37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Equity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Tech stack</vt:lpstr>
      <vt:lpstr>Slide 11</vt:lpstr>
      <vt:lpstr>Slide 12</vt:lpstr>
      <vt:lpstr>Slide 13</vt:lpstr>
      <vt:lpstr>Slide 14</vt:lpstr>
      <vt:lpstr>Slide 15</vt:lpstr>
      <vt:lpstr>Conclusion:</vt:lpstr>
      <vt:lpstr>THANK YOU!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Financefluent-24by7 all IN ONE FINANCE LEARNING EDTECH APP</dc:title>
  <dc:creator>Admin</dc:creator>
  <cp:lastModifiedBy>User</cp:lastModifiedBy>
  <cp:revision>80</cp:revision>
  <dcterms:created xsi:type="dcterms:W3CDTF">2026-03-25T13:14:13Z</dcterms:created>
  <dcterms:modified xsi:type="dcterms:W3CDTF">2026-04-30T02:51:02Z</dcterms:modified>
</cp:coreProperties>
</file>